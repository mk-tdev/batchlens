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0"/>
      <p:bold r:id="rId21"/>
    </p:embeddedFont>
    <p:embeddedFont>
      <p:font typeface="Google Sans Flex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GoogleSansFlexMedium-regular.fntdata"/><Relationship Id="rId11" Type="http://schemas.openxmlformats.org/officeDocument/2006/relationships/slide" Target="slides/slide6.xml"/><Relationship Id="rId22" Type="http://schemas.openxmlformats.org/officeDocument/2006/relationships/font" Target="fonts/GoogleSansFlex-regular.fntdata"/><Relationship Id="rId10" Type="http://schemas.openxmlformats.org/officeDocument/2006/relationships/slide" Target="slides/slide5.xml"/><Relationship Id="rId21" Type="http://schemas.openxmlformats.org/officeDocument/2006/relationships/font" Target="fonts/GoogleSansFlexMedium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GoogleSansFlex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Team PixelTrendAnalytics. Team leader: Muthukumar Arunachalam. BatchLens is a manufacturing quality investigation prototype. The Northstar case is synthetic. The first and last slides retain the organizer template. Interior crew portraits are original app artwork; screenshots and motion capture come from the working prototype.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Evidence: https://github.com/mk-tdev/BatchLens/blob/main/docs/live-cloud-verification.json and research/BatchLens/05_Deployment_and_Verification.md. These are observations from one synthetic case. No production accuracy or measured savings are claimed.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Source: https://github.com/mk-tdev/BatchLens/tree/main/research/BatchLens . Screenshots show the implemented prototype. Mira, Sol and Pip are authored guides. Gemini performs image extraction; a human confirms relationships.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5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Relationship Id="rId5" Type="http://schemas.openxmlformats.org/officeDocument/2006/relationships/image" Target="../media/image7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b="1" sz="21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a. Team name: PixelTrendAnalytics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b. Team leader name: Muthukumar Arunachalam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c. Problem Statement: Trace quality evidence into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     a reviewed inspection plan.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55600" y="1308100"/>
            <a:ext cx="38100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leaking cap.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shipments.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1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missing link.</a:t>
            </a:r>
            <a:endParaRPr b="1" sz="31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55600" y="2870200"/>
            <a:ext cx="36831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quality reviewer must decide what to inspect.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answer is scattered across factory records.</a:t>
            </a:r>
            <a:endParaRPr sz="20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55600" y="4470400"/>
            <a:ext cx="825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>
                <a:solidFill>
                  <a:srgbClr val="E9BC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Synthetic case. Real Gemini. Human-reviewed decisions.</a:t>
            </a:r>
            <a:endParaRPr sz="1300">
              <a:solidFill>
                <a:srgbClr val="E9BC68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41206" y="1922178"/>
            <a:ext cx="3325587" cy="1870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5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Opportunities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DIFFERENCE: Source review links AI readings to shipment decisions.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SOLUTION: Keep unknown mappings in conservative inspection scope.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USP: A playable factory investigation with a verifiable paper trail.</a:t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381000" y="2286000"/>
            <a:ext cx="78741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AI reads.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9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 make the call.</a:t>
            </a:r>
            <a:endParaRPr b="1" sz="39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81000" y="3810000"/>
            <a:ext cx="82551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Source quotations, visible uncertainty and a reproducible trace.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000">
                <a:solidFill>
                  <a:srgbClr val="C6D7C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accepted connection has a paper trail.</a:t>
            </a:r>
            <a:endParaRPr sz="2000">
              <a:solidFill>
                <a:srgbClr val="C6D7CF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556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Mira’s evidence lab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3556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source images with Gemini. Compare quotes, correct candidates and confirm the baseline.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33020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Sol’s assembly line</a:t>
            </a:r>
            <a:endParaRPr b="1" sz="2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33020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Follow CAP-17 through finished batches to shipments. Keep missing mappings unresolved.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6248400" y="2857500"/>
            <a:ext cx="26670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b="1" lang="en-GB" sz="20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Pip’s dispatch office</a:t>
            </a:r>
            <a:endParaRPr b="1" sz="20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6248400" y="3378200"/>
            <a:ext cx="2667000" cy="12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the recovered slip. Save an inspection snapshot and export HTML or CSV.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24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848858" y="1257300"/>
            <a:ext cx="1306584" cy="158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18300" y="1320800"/>
            <a:ext cx="1460500" cy="146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3556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01  MIRA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 the evidence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3556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Complaint and product label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inspection report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Production and shipment ledgers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3020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02  SOL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Follow the lot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33020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proposes identifiers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Reviewer confirms baseline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 exposes the missing link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248400" y="1371600"/>
            <a:ext cx="27939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03  PIP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Close the gap</a:t>
            </a:r>
            <a:endParaRPr b="1" sz="22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6248400" y="2413000"/>
            <a:ext cx="2793900" cy="14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 the supplied S4 slip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B104 from its source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 proposal and export report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355600" y="4064000"/>
            <a:ext cx="83820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1,000 connected + 500 unresolved becomes 1,500 connected.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16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conservative inspection scope stays at 1,500.</a:t>
            </a:r>
            <a:endParaRPr b="1" sz="16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10" name="Google Shape;110;p17"/>
          <p:cNvCxnSpPr/>
          <p:nvPr/>
        </p:nvCxnSpPr>
        <p:spPr>
          <a:xfrm>
            <a:off x="30480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1" name="Google Shape;111;p17"/>
          <p:cNvCxnSpPr/>
          <p:nvPr/>
        </p:nvCxnSpPr>
        <p:spPr>
          <a:xfrm>
            <a:off x="5994400" y="2184400"/>
            <a:ext cx="254100" cy="0"/>
          </a:xfrm>
          <a:prstGeom prst="straightConnector1">
            <a:avLst/>
          </a:prstGeom>
          <a:noFill/>
          <a:ln cap="flat" cmpd="sng" w="25400">
            <a:solidFill>
              <a:srgbClr val="A6E3C7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55600" y="44704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as Pip. Approach a station. Press E to enter the real evidence-review workflow.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78000" y="1270000"/>
            <a:ext cx="5588000" cy="31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889000" y="13716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5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factory you explore</a:t>
            </a:r>
            <a:endParaRPr b="1" sz="25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89000" y="2019300"/>
            <a:ext cx="7365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3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review system behind it</a:t>
            </a:r>
            <a:endParaRPr b="1" sz="23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4445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/ VERTEX AI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source images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Returns candidate + quote</a:t>
            </a:r>
            <a:endParaRPr sz="17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3" name="Google Shape;133;p19"/>
          <p:cNvSpPr txBox="1"/>
          <p:nvPr/>
        </p:nvSpPr>
        <p:spPr>
          <a:xfrm>
            <a:off x="32766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/ CLOUD RUN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confirmation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trace engine</a:t>
            </a:r>
            <a:endParaRPr sz="1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4" name="Google Shape;134;p19"/>
          <p:cNvSpPr txBox="1"/>
          <p:nvPr/>
        </p:nvSpPr>
        <p:spPr>
          <a:xfrm>
            <a:off x="6096000" y="2832100"/>
            <a:ext cx="266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Case and review history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700">
                <a:solidFill>
                  <a:srgbClr val="EFBB6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Inspection snapshots</a:t>
            </a:r>
            <a:endParaRPr sz="1700">
              <a:solidFill>
                <a:srgbClr val="EFBB65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444500" y="4483100"/>
            <a:ext cx="82551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Three.js in the browser. Cloud credentials stay on the server.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cxnSp>
        <p:nvCxnSpPr>
          <p:cNvPr id="136" name="Google Shape;136;p19"/>
          <p:cNvCxnSpPr/>
          <p:nvPr/>
        </p:nvCxnSpPr>
        <p:spPr>
          <a:xfrm>
            <a:off x="4445000" y="1803400"/>
            <a:ext cx="1200" cy="1905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7" name="Google Shape;137;p19"/>
          <p:cNvCxnSpPr/>
          <p:nvPr/>
        </p:nvCxnSpPr>
        <p:spPr>
          <a:xfrm>
            <a:off x="4445000" y="2463800"/>
            <a:ext cx="1200" cy="24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8" name="Google Shape;138;p19"/>
          <p:cNvCxnSpPr/>
          <p:nvPr/>
        </p:nvCxnSpPr>
        <p:spPr>
          <a:xfrm>
            <a:off x="1841500" y="2705100"/>
            <a:ext cx="5460900" cy="12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39" name="Google Shape;139;p19"/>
          <p:cNvCxnSpPr/>
          <p:nvPr/>
        </p:nvCxnSpPr>
        <p:spPr>
          <a:xfrm>
            <a:off x="1841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40" name="Google Shape;140;p19"/>
          <p:cNvCxnSpPr/>
          <p:nvPr/>
        </p:nvCxnSpPr>
        <p:spPr>
          <a:xfrm>
            <a:off x="7302500" y="2705100"/>
            <a:ext cx="1200" cy="101700"/>
          </a:xfrm>
          <a:prstGeom prst="straightConnector1">
            <a:avLst/>
          </a:prstGeom>
          <a:noFill/>
          <a:ln cap="flat" cmpd="sng" w="25400">
            <a:solidFill>
              <a:srgbClr val="78CDB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381000" y="1333500"/>
            <a:ext cx="83184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Flash-Lite via Vertex AI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Reads images into validated identifiers and source quotations.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Firestore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application and persists browser-owned cases.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React, TypeScript, Three.js + FastAPI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Animated factory rooms, review controls and deterministic tracing.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8" name="Google Shape;158;p21"/>
          <p:cNvSpPr txBox="1"/>
          <p:nvPr/>
        </p:nvSpPr>
        <p:spPr>
          <a:xfrm>
            <a:off x="381000" y="1422400"/>
            <a:ext cx="4127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22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estimate: pending</a:t>
            </a:r>
            <a:endParaRPr b="1" sz="22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59" name="Google Shape;159;p21"/>
          <p:cNvSpPr txBox="1"/>
          <p:nvPr/>
        </p:nvSpPr>
        <p:spPr>
          <a:xfrm>
            <a:off x="381000" y="2133600"/>
            <a:ext cx="8255100" cy="18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minimum / 2 maximum Cloud Run instances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100 model attempts per day across cases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 extraction attempts per case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GB" sz="20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24-hour case access, with Firestore TTL cleanup</a:t>
            </a:r>
            <a:endParaRPr sz="20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381000" y="4165600"/>
            <a:ext cx="8255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Optional estimate not yet measured. Cloud usage depends on tokens, requests and storage.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500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These controls limit usage; they are not a monetary spending cap.</a:t>
            </a:r>
            <a:endParaRPr sz="1500"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355600" y="4483100"/>
            <a:ext cx="844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6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scope, reviewer rationale and source references, exportable as HTML or CSV.</a:t>
            </a:r>
            <a:endParaRPr sz="16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70" name="Google Shape;17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0799" y="1295400"/>
            <a:ext cx="2675100" cy="3111499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2"/>
          <p:cNvSpPr txBox="1"/>
          <p:nvPr/>
        </p:nvSpPr>
        <p:spPr>
          <a:xfrm>
            <a:off x="3937000" y="1524000"/>
            <a:ext cx="4635600" cy="27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1,500 units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Zero unresolved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saved decision.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With its paper trail.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80" name="Google Shape;180;p23"/>
          <p:cNvSpPr txBox="1"/>
          <p:nvPr/>
        </p:nvSpPr>
        <p:spPr>
          <a:xfrm>
            <a:off x="381000" y="1371600"/>
            <a:ext cx="4445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66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1,500</a:t>
            </a:r>
            <a:endParaRPr b="1" sz="66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1" name="Google Shape;181;p23"/>
          <p:cNvSpPr txBox="1"/>
          <p:nvPr/>
        </p:nvSpPr>
        <p:spPr>
          <a:xfrm>
            <a:off x="381000" y="2374900"/>
            <a:ext cx="43179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units proposed for inspection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22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Zero unresolved after review</a:t>
            </a:r>
            <a:endParaRPr sz="22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2" name="Google Shape;182;p23"/>
          <p:cNvSpPr txBox="1"/>
          <p:nvPr/>
        </p:nvSpPr>
        <p:spPr>
          <a:xfrm>
            <a:off x="4953000" y="1397000"/>
            <a:ext cx="38100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REAL GEMINI, VERIFIED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B101 / CAP-17 / null / B104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 backend tests passed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EAF5E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Exports and saved reload passed</a:t>
            </a:r>
            <a:endParaRPr sz="1900">
              <a:solidFill>
                <a:srgbClr val="EAF5E9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83" name="Google Shape;183;p23"/>
          <p:cNvSpPr txBox="1"/>
          <p:nvPr/>
        </p:nvSpPr>
        <p:spPr>
          <a:xfrm>
            <a:off x="381000" y="4025900"/>
            <a:ext cx="82551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Observed in one synthetic case: first scan 26.9 s, later scans 1.6–1.8 s.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>
                <a:solidFill>
                  <a:srgbClr val="9FB8AD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Workflow evidence, not a production accuracy or savings claim.</a:t>
            </a:r>
            <a:endParaRPr>
              <a:solidFill>
                <a:srgbClr val="9FB8AD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92" name="Google Shape;192;p24"/>
          <p:cNvSpPr txBox="1"/>
          <p:nvPr/>
        </p:nvSpPr>
        <p:spPr>
          <a:xfrm>
            <a:off x="381000" y="1397000"/>
            <a:ext cx="82551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b="1" lang="en-GB" sz="30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shift: a real-team pilot</a:t>
            </a:r>
            <a:endParaRPr b="1" sz="30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3" name="Google Shape;193;p24"/>
          <p:cNvSpPr txBox="1"/>
          <p:nvPr/>
        </p:nvSpPr>
        <p:spPr>
          <a:xfrm>
            <a:off x="381000" y="2032000"/>
            <a:ext cx="82551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700">
                <a:solidFill>
                  <a:srgbClr val="EFF8E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a quality team reach a defensible decision with less searching and fewer missed connections?</a:t>
            </a:r>
            <a:endParaRPr sz="2700">
              <a:solidFill>
                <a:srgbClr val="EFF8E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94" name="Google Shape;194;p24"/>
          <p:cNvSpPr txBox="1"/>
          <p:nvPr/>
        </p:nvSpPr>
        <p:spPr>
          <a:xfrm>
            <a:off x="381000" y="3187700"/>
            <a:ext cx="82551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review time, mapping errors and reviewer confidence.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900">
                <a:solidFill>
                  <a:srgbClr val="B4C8B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Then expand to controlled uploads, multiple cases and ERP integration.</a:t>
            </a:r>
            <a:endParaRPr sz="1900">
              <a:solidFill>
                <a:srgbClr val="B4C8BE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1E1B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5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A6E4C6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Try BatchLens and inspect the source</a:t>
            </a:r>
            <a:endParaRPr sz="1600">
              <a:solidFill>
                <a:srgbClr val="A6E4C6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GitHub: https://github.com/mk-tdev/BatchLens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video: recording link pending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EAF5E9"/>
              </a:buClr>
              <a:buSzPts val="1400"/>
              <a:buFont typeface="Google Sans Flex Medium"/>
              <a:buChar char="●"/>
            </a:pPr>
            <a:r>
              <a:rPr lang="en-GB">
                <a:solidFill>
                  <a:srgbClr val="EAF5E9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Live: https://batchlens-hk3hxwi5na-as.a.run.app/</a:t>
            </a:r>
            <a:endParaRPr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EAF5E9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381000" y="2794000"/>
            <a:ext cx="8255100" cy="17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Walk the factory.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Inspect the evidence.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b="1" lang="en-GB" sz="3400">
                <a:solidFill>
                  <a:srgbClr val="A6E4C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the handover.</a:t>
            </a:r>
            <a:endParaRPr b="1" sz="3400">
              <a:solidFill>
                <a:srgbClr val="A6E4C6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