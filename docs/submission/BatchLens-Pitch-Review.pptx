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embeddedFontLst>
    <p:embeddedFont>
      <p:font typeface="Google Sans Flex Medium"/>
      <p:regular r:id="rId20"/>
      <p:bold r:id="rId21"/>
    </p:embeddedFont>
    <p:embeddedFont>
      <p:font typeface="Google Sans Flex"/>
      <p:regular r:id="rId22"/>
      <p:bold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GoogleSansFlexMedium-regular.fntdata"/><Relationship Id="rId11" Type="http://schemas.openxmlformats.org/officeDocument/2006/relationships/slide" Target="slides/slide6.xml"/><Relationship Id="rId22" Type="http://schemas.openxmlformats.org/officeDocument/2006/relationships/font" Target="fonts/GoogleSansFlex-regular.fntdata"/><Relationship Id="rId10" Type="http://schemas.openxmlformats.org/officeDocument/2006/relationships/slide" Target="slides/slide5.xml"/><Relationship Id="rId21" Type="http://schemas.openxmlformats.org/officeDocument/2006/relationships/font" Target="fonts/GoogleSansFlexMedium-bold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schemas.openxmlformats.org/officeDocument/2006/relationships/font" Target="fonts/GoogleSansFlex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Team PixelTrendAnalytics. Team leader: Muthukumar Arunachalam. BatchLens is a manufacturing quality investigation prototype. The Northstar case is synthetic. The first and last slides retain the organizer template. Interior crew portraits are original app artwork; screenshots and motion capture come from the working prototype.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Evidence: https://github.com/mk-tdev/BatchLens/blob/main/docs/live-cloud-verification.json and research/BatchLens/05_Deployment_and_Verification.md. These are observations from one synthetic case. No production accuracy or measured savings are claimed.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transition spd="med">
    <p:fade thruBlk="1"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gif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3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8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100">
                <a:latin typeface="Google Sans Flex"/>
                <a:ea typeface="Google Sans Flex"/>
                <a:cs typeface="Google Sans Flex"/>
                <a:sym typeface="Google Sans Flex"/>
              </a:rPr>
              <a:t>Team Details</a:t>
            </a:r>
            <a:endParaRPr b="1" sz="21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 a. Team name: PixelTrendAnalytics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 b. Team leader name: Muthukumar Arunachalam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 c. Problem Statement: Trace quality evidence into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     a reviewed inspection plan.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355600" y="1308100"/>
            <a:ext cx="3810000" cy="14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100">
                <a:solidFill>
                  <a:srgbClr val="EFF8E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leaking cap.</a:t>
            </a:r>
            <a:endParaRPr b="1" sz="3100">
              <a:solidFill>
                <a:srgbClr val="EFF8E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GB" sz="3100">
                <a:solidFill>
                  <a:srgbClr val="EFF8E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Possible causes.</a:t>
            </a:r>
            <a:endParaRPr b="1" sz="3100">
              <a:solidFill>
                <a:srgbClr val="EFF8E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b="1" lang="en-GB" sz="3100">
                <a:solidFill>
                  <a:srgbClr val="EFF8E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next check.</a:t>
            </a:r>
            <a:endParaRPr b="1" sz="3100">
              <a:solidFill>
                <a:srgbClr val="EFF8E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355600" y="2870200"/>
            <a:ext cx="36831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B4C8B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Pip investigates.</a:t>
            </a:r>
            <a:endParaRPr sz="2000">
              <a:solidFill>
                <a:srgbClr val="B4C8B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B4C8B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Operators test and review.</a:t>
            </a:r>
            <a:endParaRPr sz="2000">
              <a:solidFill>
                <a:srgbClr val="B4C8B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2000">
                <a:solidFill>
                  <a:srgbClr val="B4C8B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reassesses.</a:t>
            </a:r>
            <a:endParaRPr sz="2000">
              <a:solidFill>
                <a:srgbClr val="B4C8B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55600" y="4470400"/>
            <a:ext cx="8255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300">
                <a:solidFill>
                  <a:srgbClr val="E9BC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Synthetic case. Real Gemini. Human-reviewed decisions.</a:t>
            </a:r>
            <a:endParaRPr sz="1300">
              <a:solidFill>
                <a:srgbClr val="E9BC68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7" name="Google Shape;67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41206" y="1922178"/>
            <a:ext cx="3325587" cy="18706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1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15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Opportunities</a:t>
            </a:r>
            <a:endParaRPr sz="1600"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DIFFERENCE: Gemini revises hypotheses after operator results.</a:t>
            </a:r>
            <a:endParaRPr sz="1600"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SOLUTION: Evidence, inspection missions and reviewed actions.</a:t>
            </a:r>
            <a:endParaRPr sz="1600"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USP: A playable factory with an auditable agent journal.</a:t>
            </a:r>
            <a:endParaRPr sz="1600"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6" name="Google Shape;76;p15"/>
          <p:cNvSpPr txBox="1"/>
          <p:nvPr/>
        </p:nvSpPr>
        <p:spPr>
          <a:xfrm>
            <a:off x="381000" y="2286000"/>
            <a:ext cx="7874100" cy="13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9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An investigation</a:t>
            </a:r>
            <a:endParaRPr b="1" sz="39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b="1" lang="en-GB" sz="39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that learns from results.</a:t>
            </a:r>
            <a:endParaRPr b="1" sz="39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77" name="Google Shape;77;p15"/>
          <p:cNvSpPr txBox="1"/>
          <p:nvPr/>
        </p:nvSpPr>
        <p:spPr>
          <a:xfrm>
            <a:off x="381000" y="3810000"/>
            <a:ext cx="8255100" cy="88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6D7C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Pip proposes missions and revises evidence-backed hypotheses.</a:t>
            </a:r>
            <a:endParaRPr sz="2000">
              <a:solidFill>
                <a:srgbClr val="C6D7CF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2000">
                <a:solidFill>
                  <a:srgbClr val="C6D7C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Operators approve checks, facts and the final handover.</a:t>
            </a:r>
            <a:endParaRPr sz="2000">
              <a:solidFill>
                <a:srgbClr val="C6D7CF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6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6" name="Google Shape;86;p16"/>
          <p:cNvSpPr txBox="1"/>
          <p:nvPr/>
        </p:nvSpPr>
        <p:spPr>
          <a:xfrm>
            <a:off x="355600" y="2857500"/>
            <a:ext cx="26670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b="1" lang="en-GB" sz="20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Mira’s evidence lab</a:t>
            </a:r>
            <a:endParaRPr b="1" sz="20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87" name="Google Shape;87;p16"/>
          <p:cNvSpPr txBox="1"/>
          <p:nvPr/>
        </p:nvSpPr>
        <p:spPr>
          <a:xfrm>
            <a:off x="355600" y="3378200"/>
            <a:ext cx="2667000" cy="120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Read evidence. Compare causes. Approve a demo inspection mission and record its result.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88" name="Google Shape;88;p16"/>
          <p:cNvSpPr txBox="1"/>
          <p:nvPr/>
        </p:nvSpPr>
        <p:spPr>
          <a:xfrm>
            <a:off x="3302000" y="2857500"/>
            <a:ext cx="26670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b="1" lang="en-GB" sz="20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Sol’s assembly line</a:t>
            </a:r>
            <a:endParaRPr b="1" sz="20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89" name="Google Shape;89;p16"/>
          <p:cNvSpPr txBox="1"/>
          <p:nvPr/>
        </p:nvSpPr>
        <p:spPr>
          <a:xfrm>
            <a:off x="3302000" y="3378200"/>
            <a:ext cx="2667000" cy="120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Review assembly records. Compare inspection scopes with explicit workload assumptions.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90" name="Google Shape;90;p16"/>
          <p:cNvSpPr txBox="1"/>
          <p:nvPr/>
        </p:nvSpPr>
        <p:spPr>
          <a:xfrm>
            <a:off x="6248400" y="2857500"/>
            <a:ext cx="26670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b="1" lang="en-GB" sz="2000">
                <a:solidFill>
                  <a:srgbClr val="EFBB6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Pip’s investigation</a:t>
            </a:r>
            <a:endParaRPr b="1" sz="2000">
              <a:solidFill>
                <a:srgbClr val="EFBB65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91" name="Google Shape;91;p16"/>
          <p:cNvSpPr txBox="1"/>
          <p:nvPr/>
        </p:nvSpPr>
        <p:spPr>
          <a:xfrm>
            <a:off x="6248400" y="3378200"/>
            <a:ext cx="2667000" cy="120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Reassess results with Gemini. Ask operational questions. Review corrective-action drafts.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92" name="Google Shape;92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02458" y="1257300"/>
            <a:ext cx="1306584" cy="158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848858" y="1257300"/>
            <a:ext cx="1306584" cy="158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718300" y="1320800"/>
            <a:ext cx="1460500" cy="146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3" name="Google Shape;103;p17"/>
          <p:cNvSpPr txBox="1"/>
          <p:nvPr/>
        </p:nvSpPr>
        <p:spPr>
          <a:xfrm>
            <a:off x="355600" y="1371600"/>
            <a:ext cx="2793900" cy="8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01  INVESTIGATE</a:t>
            </a:r>
            <a:endParaRPr b="1" sz="22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b="1" lang="en-GB" sz="22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Compare causes</a:t>
            </a:r>
            <a:endParaRPr b="1" sz="22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04" name="Google Shape;104;p17"/>
          <p:cNvSpPr txBox="1"/>
          <p:nvPr/>
        </p:nvSpPr>
        <p:spPr>
          <a:xfrm>
            <a:off x="355600" y="2413000"/>
            <a:ext cx="2793900" cy="14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Read evidence and procedures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Find gaps and contradictions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0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Propose inspection missions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05" name="Google Shape;105;p17"/>
          <p:cNvSpPr txBox="1"/>
          <p:nvPr/>
        </p:nvSpPr>
        <p:spPr>
          <a:xfrm>
            <a:off x="3302000" y="1371600"/>
            <a:ext cx="2793900" cy="8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02  INSPECT</a:t>
            </a:r>
            <a:endParaRPr b="1" sz="22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b="1" lang="en-GB" sz="22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Operator checkpoint</a:t>
            </a:r>
            <a:endParaRPr b="1" sz="22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06" name="Google Shape;106;p17"/>
          <p:cNvSpPr txBox="1"/>
          <p:nvPr/>
        </p:nvSpPr>
        <p:spPr>
          <a:xfrm>
            <a:off x="3302000" y="2413000"/>
            <a:ext cx="2793900" cy="14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a demo mission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Record a synthetic result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0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revises its findings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07" name="Google Shape;107;p17"/>
          <p:cNvSpPr txBox="1"/>
          <p:nvPr/>
        </p:nvSpPr>
        <p:spPr>
          <a:xfrm>
            <a:off x="6248400" y="1371600"/>
            <a:ext cx="2793900" cy="8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rgbClr val="EFBB6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03  HAND OVER</a:t>
            </a:r>
            <a:endParaRPr b="1" sz="2200">
              <a:solidFill>
                <a:srgbClr val="EFBB65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b="1" lang="en-GB" sz="2200">
                <a:solidFill>
                  <a:srgbClr val="EFBB6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Review next steps</a:t>
            </a:r>
            <a:endParaRPr b="1" sz="2200">
              <a:solidFill>
                <a:srgbClr val="EFBB65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08" name="Google Shape;108;p17"/>
          <p:cNvSpPr txBox="1"/>
          <p:nvPr/>
        </p:nvSpPr>
        <p:spPr>
          <a:xfrm>
            <a:off x="6248400" y="2413000"/>
            <a:ext cx="2793900" cy="14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Compare inspection scopes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action drafts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0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Export a reviewed snapshot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09" name="Google Shape;109;p17"/>
          <p:cNvSpPr txBox="1"/>
          <p:nvPr/>
        </p:nvSpPr>
        <p:spPr>
          <a:xfrm>
            <a:off x="355600" y="4064000"/>
            <a:ext cx="8382000" cy="8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solidFill>
                  <a:srgbClr val="EFBB6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Operational chat clarifies the case using cited evidence.</a:t>
            </a:r>
            <a:endParaRPr b="1" sz="1600">
              <a:solidFill>
                <a:srgbClr val="EFBB65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b="1" lang="en-GB" sz="1600">
                <a:solidFill>
                  <a:srgbClr val="EFBB6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Humans approve decisions. Demo results are explicitly synthetic.</a:t>
            </a:r>
            <a:endParaRPr b="1" sz="1600">
              <a:solidFill>
                <a:srgbClr val="EFBB65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cxnSp>
        <p:nvCxnSpPr>
          <p:cNvPr id="110" name="Google Shape;110;p17"/>
          <p:cNvCxnSpPr/>
          <p:nvPr/>
        </p:nvCxnSpPr>
        <p:spPr>
          <a:xfrm>
            <a:off x="3048000" y="2184400"/>
            <a:ext cx="254100" cy="0"/>
          </a:xfrm>
          <a:prstGeom prst="straightConnector1">
            <a:avLst/>
          </a:prstGeom>
          <a:noFill/>
          <a:ln cap="flat" cmpd="sng" w="25400">
            <a:solidFill>
              <a:srgbClr val="A6E3C7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11" name="Google Shape;111;p17"/>
          <p:cNvCxnSpPr/>
          <p:nvPr/>
        </p:nvCxnSpPr>
        <p:spPr>
          <a:xfrm>
            <a:off x="5994400" y="2184400"/>
            <a:ext cx="254100" cy="0"/>
          </a:xfrm>
          <a:prstGeom prst="straightConnector1">
            <a:avLst/>
          </a:prstGeom>
          <a:noFill/>
          <a:ln cap="flat" cmpd="sng" w="25400">
            <a:solidFill>
              <a:srgbClr val="A6E3C7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Google Shape;120;p18"/>
          <p:cNvSpPr txBox="1"/>
          <p:nvPr/>
        </p:nvSpPr>
        <p:spPr>
          <a:xfrm>
            <a:off x="355600" y="4470400"/>
            <a:ext cx="84456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Walk as Pip. Approach a station. Press E to enter the real evidence-review workflow.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121" name="Google Shape;121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78000" y="1270000"/>
            <a:ext cx="5588000" cy="3143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0" name="Google Shape;130;p19"/>
          <p:cNvSpPr txBox="1"/>
          <p:nvPr/>
        </p:nvSpPr>
        <p:spPr>
          <a:xfrm>
            <a:off x="889000" y="1371600"/>
            <a:ext cx="73659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b="1" lang="en-GB" sz="25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Playable factory + adaptive mission journal</a:t>
            </a:r>
            <a:endParaRPr b="1" sz="25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31" name="Google Shape;131;p19"/>
          <p:cNvSpPr txBox="1"/>
          <p:nvPr/>
        </p:nvSpPr>
        <p:spPr>
          <a:xfrm>
            <a:off x="889000" y="2019300"/>
            <a:ext cx="73659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b="1" lang="en-GB" sz="2300">
                <a:solidFill>
                  <a:srgbClr val="EFF8E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Bounded Gemini tool loop</a:t>
            </a:r>
            <a:endParaRPr b="1" sz="2300">
              <a:solidFill>
                <a:srgbClr val="EFF8E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32" name="Google Shape;132;p19"/>
          <p:cNvSpPr txBox="1"/>
          <p:nvPr/>
        </p:nvSpPr>
        <p:spPr>
          <a:xfrm>
            <a:off x="444500" y="2832100"/>
            <a:ext cx="26670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/ VERTEX AI</a:t>
            </a:r>
            <a:endParaRPr sz="17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Compare causes</a:t>
            </a:r>
            <a:endParaRPr sz="17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17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Reassess operator results</a:t>
            </a:r>
            <a:endParaRPr sz="17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33" name="Google Shape;133;p19"/>
          <p:cNvSpPr txBox="1"/>
          <p:nvPr/>
        </p:nvSpPr>
        <p:spPr>
          <a:xfrm>
            <a:off x="3276600" y="2832100"/>
            <a:ext cx="26670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EFF8E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VALIDATED TOOLS</a:t>
            </a:r>
            <a:endParaRPr sz="1700">
              <a:solidFill>
                <a:srgbClr val="EFF8E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EFF8E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Procedures, missions, scope</a:t>
            </a:r>
            <a:endParaRPr sz="1700">
              <a:solidFill>
                <a:srgbClr val="EFF8E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1700">
                <a:solidFill>
                  <a:srgbClr val="EFF8E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approval gates</a:t>
            </a:r>
            <a:endParaRPr sz="1700">
              <a:solidFill>
                <a:srgbClr val="EFF8E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34" name="Google Shape;134;p19"/>
          <p:cNvSpPr txBox="1"/>
          <p:nvPr/>
        </p:nvSpPr>
        <p:spPr>
          <a:xfrm>
            <a:off x="6096000" y="2832100"/>
            <a:ext cx="26670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EFBB6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FIRESTORE</a:t>
            </a:r>
            <a:endParaRPr sz="1700">
              <a:solidFill>
                <a:srgbClr val="EFBB65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EFBB6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Evidence + result records</a:t>
            </a:r>
            <a:endParaRPr sz="1700">
              <a:solidFill>
                <a:srgbClr val="EFBB65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1700">
                <a:solidFill>
                  <a:srgbClr val="EFBB6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Frozen handovers</a:t>
            </a:r>
            <a:endParaRPr sz="1700">
              <a:solidFill>
                <a:srgbClr val="EFBB65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35" name="Google Shape;135;p19"/>
          <p:cNvSpPr txBox="1"/>
          <p:nvPr/>
        </p:nvSpPr>
        <p:spPr>
          <a:xfrm>
            <a:off x="444500" y="4483100"/>
            <a:ext cx="8255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500">
                <a:solidFill>
                  <a:srgbClr val="9FB8AD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Operations-only Gemini chat uses a separate scope gate and has no mutation tools.</a:t>
            </a:r>
            <a:endParaRPr sz="1500">
              <a:solidFill>
                <a:srgbClr val="9FB8AD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cxnSp>
        <p:nvCxnSpPr>
          <p:cNvPr id="136" name="Google Shape;136;p19"/>
          <p:cNvCxnSpPr/>
          <p:nvPr/>
        </p:nvCxnSpPr>
        <p:spPr>
          <a:xfrm>
            <a:off x="4445000" y="1803400"/>
            <a:ext cx="1200" cy="190500"/>
          </a:xfrm>
          <a:prstGeom prst="straightConnector1">
            <a:avLst/>
          </a:prstGeom>
          <a:noFill/>
          <a:ln cap="flat" cmpd="sng" w="25400">
            <a:solidFill>
              <a:srgbClr val="78CDB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37" name="Google Shape;137;p19"/>
          <p:cNvCxnSpPr/>
          <p:nvPr/>
        </p:nvCxnSpPr>
        <p:spPr>
          <a:xfrm>
            <a:off x="4445000" y="2463800"/>
            <a:ext cx="1200" cy="241200"/>
          </a:xfrm>
          <a:prstGeom prst="straightConnector1">
            <a:avLst/>
          </a:prstGeom>
          <a:noFill/>
          <a:ln cap="flat" cmpd="sng" w="25400">
            <a:solidFill>
              <a:srgbClr val="78CDB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38" name="Google Shape;138;p19"/>
          <p:cNvCxnSpPr/>
          <p:nvPr/>
        </p:nvCxnSpPr>
        <p:spPr>
          <a:xfrm>
            <a:off x="1841500" y="2705100"/>
            <a:ext cx="5460900" cy="1200"/>
          </a:xfrm>
          <a:prstGeom prst="straightConnector1">
            <a:avLst/>
          </a:prstGeom>
          <a:noFill/>
          <a:ln cap="flat" cmpd="sng" w="25400">
            <a:solidFill>
              <a:srgbClr val="78CDB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39" name="Google Shape;139;p19"/>
          <p:cNvCxnSpPr/>
          <p:nvPr/>
        </p:nvCxnSpPr>
        <p:spPr>
          <a:xfrm>
            <a:off x="1841500" y="2705100"/>
            <a:ext cx="1200" cy="101700"/>
          </a:xfrm>
          <a:prstGeom prst="straightConnector1">
            <a:avLst/>
          </a:prstGeom>
          <a:noFill/>
          <a:ln cap="flat" cmpd="sng" w="25400">
            <a:solidFill>
              <a:srgbClr val="78CDB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0" name="Google Shape;140;p19"/>
          <p:cNvCxnSpPr/>
          <p:nvPr/>
        </p:nvCxnSpPr>
        <p:spPr>
          <a:xfrm>
            <a:off x="7302500" y="2705100"/>
            <a:ext cx="1200" cy="101700"/>
          </a:xfrm>
          <a:prstGeom prst="straightConnector1">
            <a:avLst/>
          </a:prstGeom>
          <a:noFill/>
          <a:ln cap="flat" cmpd="sng" w="25400">
            <a:solidFill>
              <a:srgbClr val="78CDB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9" name="Google Shape;149;p20"/>
          <p:cNvSpPr txBox="1"/>
          <p:nvPr/>
        </p:nvSpPr>
        <p:spPr>
          <a:xfrm>
            <a:off x="381000" y="1333500"/>
            <a:ext cx="8318400" cy="3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3.5 Flash-Lite via Vertex AI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Tool calling, cause comparison and grounded operational chat.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Run + Firestore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Bounded execution, mission results and persistent case journals.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React, TypeScript, Three.js + FastAPI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Playable factory, human approvals and deterministic scope.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8" name="Google Shape;158;p21"/>
          <p:cNvSpPr txBox="1"/>
          <p:nvPr/>
        </p:nvSpPr>
        <p:spPr>
          <a:xfrm>
            <a:off x="381000" y="1422400"/>
            <a:ext cx="4127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b="1" lang="en-GB" sz="22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Pilot estimate: pending</a:t>
            </a:r>
            <a:endParaRPr b="1" sz="22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59" name="Google Shape;159;p21"/>
          <p:cNvSpPr txBox="1"/>
          <p:nvPr/>
        </p:nvSpPr>
        <p:spPr>
          <a:xfrm>
            <a:off x="381000" y="2133600"/>
            <a:ext cx="8255100" cy="184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0 minimum / 2 maximum Cloud Run instances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100 model attempts/day across cases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Per case: 12 investigator + 8 scans + 12 chat calls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0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Per run: 6 turns / 24 tools / 95 seconds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60" name="Google Shape;160;p21"/>
          <p:cNvSpPr txBox="1"/>
          <p:nvPr/>
        </p:nvSpPr>
        <p:spPr>
          <a:xfrm>
            <a:off x="381000" y="4165600"/>
            <a:ext cx="8255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9FB8AD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Optional estimate not yet measured. Cloud usage depends on tokens, requests and storage.</a:t>
            </a:r>
            <a:endParaRPr sz="1500">
              <a:solidFill>
                <a:srgbClr val="9FB8AD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1500">
                <a:solidFill>
                  <a:srgbClr val="9FB8AD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These controls limit usage; they are not a monetary spending cap.</a:t>
            </a:r>
            <a:endParaRPr sz="1500">
              <a:solidFill>
                <a:srgbClr val="9FB8AD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165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9" name="Google Shape;169;p22"/>
          <p:cNvSpPr txBox="1"/>
          <p:nvPr/>
        </p:nvSpPr>
        <p:spPr>
          <a:xfrm>
            <a:off x="355600" y="4483100"/>
            <a:ext cx="84456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Cause comparisons, inspection missions and operational chat with real Gemini.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170" name="Google Shape;170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21669" y="1781558"/>
            <a:ext cx="2233361" cy="2139183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22"/>
          <p:cNvSpPr txBox="1"/>
          <p:nvPr/>
        </p:nvSpPr>
        <p:spPr>
          <a:xfrm>
            <a:off x="3937000" y="1524000"/>
            <a:ext cx="4635600" cy="279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Pip proposes.</a:t>
            </a:r>
            <a:endParaRPr b="1" sz="30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GB" sz="30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Operators inspect.</a:t>
            </a:r>
            <a:endParaRPr b="1" sz="30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30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GB" sz="30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reassesses.</a:t>
            </a:r>
            <a:endParaRPr b="1" sz="30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b="1" lang="en-GB" sz="30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Humans decide.</a:t>
            </a:r>
            <a:endParaRPr b="1" sz="30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80" name="Google Shape;180;p23"/>
          <p:cNvSpPr txBox="1"/>
          <p:nvPr/>
        </p:nvSpPr>
        <p:spPr>
          <a:xfrm>
            <a:off x="381000" y="1371600"/>
            <a:ext cx="44451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b="1" lang="en-GB" sz="66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1,500</a:t>
            </a:r>
            <a:endParaRPr b="1" sz="66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81" name="Google Shape;181;p23"/>
          <p:cNvSpPr txBox="1"/>
          <p:nvPr/>
        </p:nvSpPr>
        <p:spPr>
          <a:xfrm>
            <a:off x="381000" y="2374900"/>
            <a:ext cx="4317900" cy="86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units proposed for inspection</a:t>
            </a:r>
            <a:endParaRPr sz="22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22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Zero unresolved after review</a:t>
            </a:r>
            <a:endParaRPr sz="22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82" name="Google Shape;182;p23"/>
          <p:cNvSpPr txBox="1"/>
          <p:nvPr/>
        </p:nvSpPr>
        <p:spPr>
          <a:xfrm>
            <a:off x="4953000" y="1397000"/>
            <a:ext cx="381000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ADAPTIVE QUALITY INVESTIGATION</a:t>
            </a:r>
            <a:endParaRPr sz="19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GB" sz="19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Cause comparison and missions</a:t>
            </a:r>
            <a:endParaRPr sz="19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GB" sz="19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22 backend tests passed</a:t>
            </a:r>
            <a:endParaRPr sz="19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19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approval gates verified</a:t>
            </a:r>
            <a:endParaRPr sz="19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83" name="Google Shape;183;p23"/>
          <p:cNvSpPr txBox="1"/>
          <p:nvPr/>
        </p:nvSpPr>
        <p:spPr>
          <a:xfrm>
            <a:off x="381000" y="4025900"/>
            <a:ext cx="8255100" cy="85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9FB8AD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Synthetic case and operator-entered demo results. No production accuracy claim.</a:t>
            </a:r>
            <a:endParaRPr>
              <a:solidFill>
                <a:srgbClr val="9FB8AD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>
                <a:solidFill>
                  <a:srgbClr val="9FB8AD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recommendations cannot approve scope, release stock or operate equipment.</a:t>
            </a:r>
            <a:endParaRPr>
              <a:solidFill>
                <a:srgbClr val="9FB8AD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Google Shape;188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92" name="Google Shape;192;p24"/>
          <p:cNvSpPr txBox="1"/>
          <p:nvPr/>
        </p:nvSpPr>
        <p:spPr>
          <a:xfrm>
            <a:off x="381000" y="1397000"/>
            <a:ext cx="8255100" cy="44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b="1" lang="en-GB" sz="30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 shift: a real-team pilot</a:t>
            </a:r>
            <a:endParaRPr b="1" sz="30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93" name="Google Shape;193;p24"/>
          <p:cNvSpPr txBox="1"/>
          <p:nvPr/>
        </p:nvSpPr>
        <p:spPr>
          <a:xfrm>
            <a:off x="381000" y="2032000"/>
            <a:ext cx="8255100" cy="8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700">
                <a:solidFill>
                  <a:srgbClr val="EFF8E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 a quality team reach a defensible decision with less searching and fewer missed connections?</a:t>
            </a:r>
            <a:endParaRPr sz="2700">
              <a:solidFill>
                <a:srgbClr val="EFF8E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94" name="Google Shape;194;p24"/>
          <p:cNvSpPr txBox="1"/>
          <p:nvPr/>
        </p:nvSpPr>
        <p:spPr>
          <a:xfrm>
            <a:off x="381000" y="3187700"/>
            <a:ext cx="82551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00">
                <a:solidFill>
                  <a:srgbClr val="B4C8B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 evidence coverage, review time and decision errors.</a:t>
            </a:r>
            <a:endParaRPr sz="1900">
              <a:solidFill>
                <a:srgbClr val="B4C8B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rgbClr val="B4C8B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1900">
                <a:solidFill>
                  <a:srgbClr val="B4C8B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Next: approved real procedures, controlled uploads and ERP integration.</a:t>
            </a:r>
            <a:endParaRPr sz="1900">
              <a:solidFill>
                <a:srgbClr val="B4C8B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9" name="Google Shape;199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25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Try BatchLens and inspect the source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EAF5E9"/>
              </a:buClr>
              <a:buSzPts val="1400"/>
              <a:buFont typeface="Google Sans Flex Medium"/>
              <a:buChar char="●"/>
            </a:pPr>
            <a:r>
              <a:rPr lang="en-GB">
                <a:solidFill>
                  <a:srgbClr val="EAF5E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GitHub: https://github.com/mk-tdev/BatchLens</a:t>
            </a:r>
            <a:endParaRPr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EAF5E9"/>
              </a:buClr>
              <a:buSzPts val="1400"/>
              <a:buFont typeface="Google Sans Flex Medium"/>
              <a:buChar char="●"/>
            </a:pPr>
            <a:r>
              <a:rPr lang="en-GB">
                <a:solidFill>
                  <a:srgbClr val="EAF5E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video: recording link pending</a:t>
            </a:r>
            <a:endParaRPr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EAF5E9"/>
              </a:buClr>
              <a:buSzPts val="1400"/>
              <a:buFont typeface="Google Sans Flex Medium"/>
              <a:buChar char="●"/>
            </a:pPr>
            <a:r>
              <a:rPr lang="en-GB">
                <a:solidFill>
                  <a:srgbClr val="EAF5E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Live: https://batchlens-hk3hxwi5na-as.a.run.app/</a:t>
            </a:r>
            <a:endParaRPr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203" name="Google Shape;203;p25"/>
          <p:cNvSpPr txBox="1"/>
          <p:nvPr/>
        </p:nvSpPr>
        <p:spPr>
          <a:xfrm>
            <a:off x="381000" y="2794000"/>
            <a:ext cx="8255100" cy="17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4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Walk the factory.</a:t>
            </a:r>
            <a:endParaRPr b="1" sz="34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GB" sz="34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Complete a mission.</a:t>
            </a:r>
            <a:endParaRPr b="1" sz="34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b="1" lang="en-GB" sz="34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Challenge Pip.</a:t>
            </a:r>
            <a:endParaRPr b="1" sz="34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Google Shape;208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