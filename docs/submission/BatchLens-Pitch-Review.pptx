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Google Sans Flex Medium"/>
      <p:regular r:id="rId21"/>
      <p:bold r:id="rId22"/>
    </p:embeddedFont>
    <p:embeddedFont>
      <p:font typeface="Google Sans Flex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901800-F74E-40F8-9D84-CF7F7C739A23}">
  <a:tblStyle styleId="{16901800-F74E-40F8-9D84-CF7F7C739A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font" Target="fonts/GoogleSansFlexMedium-bold.fntdata"/><Relationship Id="rId10" Type="http://schemas.openxmlformats.org/officeDocument/2006/relationships/slide" Target="slides/slide4.xml"/><Relationship Id="rId21" Type="http://schemas.openxmlformats.org/officeDocument/2006/relationships/font" Target="fonts/GoogleSansFlexMedium-regular.fntdata"/><Relationship Id="rId13" Type="http://schemas.openxmlformats.org/officeDocument/2006/relationships/slide" Target="slides/slide7.xml"/><Relationship Id="rId24" Type="http://schemas.openxmlformats.org/officeDocument/2006/relationships/font" Target="fonts/GoogleSansFlex-bold.fntdata"/><Relationship Id="rId12" Type="http://schemas.openxmlformats.org/officeDocument/2006/relationships/slide" Target="slides/slide6.xml"/><Relationship Id="rId23" Type="http://schemas.openxmlformats.org/officeDocument/2006/relationships/font" Target="fonts/GoogleSansFlex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Team PixelTrendAnalytics. Team leader: Muthukumar Arunachalam. BatchLens is a manufacturing quality investigation prototype. The Northstar case is synthetic. The first and last slides retain the organizer template. Interior crew portraits are original app artwork; screenshots and motion capture come from the working prototype.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Pilot estimate updated 18 October 2026. This is an engineering budget, not a measured customer pilot or billing invoice.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Measured fresh synthetic demo case bf90a81d-a7bd-4750-ad41-d747f8f1d310: Pip investigated, human approved mission, operator entered labelled synthetic R1, Gemini reassessed, and answered three operational chat questions. Baseline/S4 approvals, handover save and reload followed. No physical inspection was performed. Vertex AI Cloud Monitoring showed 66,308 input tokens, 3,087 output tokens, 19 HTTP-200 model invocations. Case counters: 4 image scans, 9 investigator calls, 6 chat calls. Quiet window and matching daily count support attribution. AI activity 18 Oct 2026 14:00:47–14:02:21 SGT.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gemini-3.5-flash-lite, standard global Vertex AI. Rates US$0.30/million input and US$2.50/million output. Calculation: 66,308 * 0.30/1,000,000 + 3,087 * 2.50/1,000,000 = US$0.0276099 per case. 19 calls already included.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Monthly planning allowances at 100 / 1,000 cases: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Gemini: $2.76 / $27.61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Cloud Run: $0.50 / $5.00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Firestore operations and case storage: $0.10 / $1.00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Artifact Registry and build-source storage: $0.60 / $0.60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Cloud Build: $1.00 / $1.00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Internet transfer: $0.25 / $2.50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Subtotal: $5.21 / $37.71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Recommended budget including headroom: $6 / $40.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Assumptions: Cloud Run in Singapore with request-based billing, minimum zero instances, 1 vCPU/512 MiB, about 180 billable instance-seconds and 200 requests per case. Approximately 500 Firestore reads and 200 writes per case, 24-hour case expiry. Named Firestore database has no standard free quota. Around 5 GiB retained container images and 1 GiB build-source files. Twenty five-minute builds/month, about 10 MiB internet traffic/case. Light logs/monitoring assumed within normal free allowance; budget headroom covers small variation. Infrastructure figures are estimates and rounded allowances, not observed billing. No promotional credits or available free-tier discounts subtracted. USD before taxes. More public visits, retained images, longer investigations or builds increase cost. Budget is not a spending cap.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 19 calls/case, the current 100-attempt/day safeguard allows roughly five full cases/day. The 1,000-case monthly scenario requires an explicitly approved increase to that limit. No deployed limit was changed.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Official price sources checked 18 Oct 2026: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https://cloud.google.com/gemini-enterprise-agent-platform/generative-ai/pricing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https://cloud.google.com/run/pricing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https://cloud.google.com/firestore/pricing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https://cloud.google.com/artifact-registry/pricing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https://cloud.google.com/storage/pricing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https://cloud.google.com/build/pricing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Local measured evidence: research/BatchLens/cost-estimate/vertex-usage-2026-10-18.json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Evidence: https://github.com/mk-tdev/BatchLens/blob/main/docs/live-cloud-verification.json and research/BatchLens/05_Deployment_and_Verification.md. These are observations from one synthetic case. No production accuracy or measured savings are claimed.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hyperlink" Target="https://github.com/mk-tdev/BatchLens" TargetMode="External"/><Relationship Id="rId6" Type="http://schemas.openxmlformats.org/officeDocument/2006/relationships/hyperlink" Target="https://youtu.be/aosveR1UzOM" TargetMode="External"/><Relationship Id="rId7" Type="http://schemas.openxmlformats.org/officeDocument/2006/relationships/hyperlink" Target="https://batchlens-hk3hxwi5na-as.a.run.app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b="1" sz="21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a. Team name: PixelTrendAnalytics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b. Team leader name: Muthukumar Arunachalam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c. Problem Statement: Trace quality evidence into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    a reviewed inspection plan.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55600" y="1308100"/>
            <a:ext cx="38100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leaking cap.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Possible causes.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next check.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55600" y="2870200"/>
            <a:ext cx="36831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investigates.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Operators test and review.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reassesses.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55600" y="4470400"/>
            <a:ext cx="825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>
                <a:solidFill>
                  <a:srgbClr val="E9BC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case. Real Gemini. Human-reviewed decisions.</a:t>
            </a:r>
            <a:endParaRPr sz="1300">
              <a:solidFill>
                <a:srgbClr val="E9BC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1206" y="1922178"/>
            <a:ext cx="3325587" cy="1870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5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Opportunities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DIFFERENCE: Gemini revises hypotheses after operator results.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SOLUTION: Evidence, inspection missions and reviewed actions.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USP: A playable factory with an auditable agent journal.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381000" y="2286000"/>
            <a:ext cx="78741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investigation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that learns from results.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81000" y="3810000"/>
            <a:ext cx="82551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proposes missions and revises evidence-backed hypotheses.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Operators approve checks, facts and the final handover.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556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Mira’s evidence lab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3556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evidence. Compare causes. Approve a demo inspection mission and record its result.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33020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Sol’s assembly line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33020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assembly records. Compare inspection scopes with explicit workload assumptions.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62484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Pip’s investigation</a:t>
            </a:r>
            <a:endParaRPr b="1" sz="20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62484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Reassess results with Gemini. Ask operational questions. Review corrective-action drafts.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24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488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18300" y="1320800"/>
            <a:ext cx="1460500" cy="146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3556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01  INVESTIGATE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causes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3556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evidence and procedures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Find gaps and contradictions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Propose inspection missions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33020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02  INSPECT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 checkpoint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33020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a demo mission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Record a synthetic result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revises its findings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2484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03  HAND OVER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next steps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62484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inspection scopes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action drafts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Export a reviewed snapshot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355600" y="4064000"/>
            <a:ext cx="83820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chat clarifies the case using cited evidence.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Humans approve decisions. Demo results are explicitly synthetic.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10" name="Google Shape;110;p17"/>
          <p:cNvCxnSpPr/>
          <p:nvPr/>
        </p:nvCxnSpPr>
        <p:spPr>
          <a:xfrm>
            <a:off x="30480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1" name="Google Shape;111;p17"/>
          <p:cNvCxnSpPr/>
          <p:nvPr/>
        </p:nvCxnSpPr>
        <p:spPr>
          <a:xfrm>
            <a:off x="59944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55600" y="44704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as Pip. Approach a station. Press E to enter the real evidence-review workflow.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21" name="Google Shape;12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78000" y="1270000"/>
            <a:ext cx="5588000" cy="31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889000" y="13716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5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Playable factory + adaptive mission journal</a:t>
            </a:r>
            <a:endParaRPr b="1" sz="25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889000" y="20193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3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Gemini tool loop</a:t>
            </a:r>
            <a:endParaRPr b="1" sz="23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4445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/ VERTEX AI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causes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Reassess operator results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32766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VALIDATED TOOLS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Procedures, missions, scope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approval gates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4" name="Google Shape;134;p19"/>
          <p:cNvSpPr txBox="1"/>
          <p:nvPr/>
        </p:nvSpPr>
        <p:spPr>
          <a:xfrm>
            <a:off x="60960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 + result records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Frozen handovers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5" name="Google Shape;135;p19"/>
          <p:cNvSpPr txBox="1"/>
          <p:nvPr/>
        </p:nvSpPr>
        <p:spPr>
          <a:xfrm>
            <a:off x="444500" y="4483100"/>
            <a:ext cx="8255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Operations-only Gemini chat uses a separate scope gate and has no mutation tools.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36" name="Google Shape;136;p19"/>
          <p:cNvCxnSpPr/>
          <p:nvPr/>
        </p:nvCxnSpPr>
        <p:spPr>
          <a:xfrm>
            <a:off x="4445000" y="1803400"/>
            <a:ext cx="1200" cy="1905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7" name="Google Shape;137;p19"/>
          <p:cNvCxnSpPr/>
          <p:nvPr/>
        </p:nvCxnSpPr>
        <p:spPr>
          <a:xfrm>
            <a:off x="4445000" y="2463800"/>
            <a:ext cx="1200" cy="24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8" name="Google Shape;138;p19"/>
          <p:cNvCxnSpPr/>
          <p:nvPr/>
        </p:nvCxnSpPr>
        <p:spPr>
          <a:xfrm>
            <a:off x="1841500" y="2705100"/>
            <a:ext cx="5460900" cy="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" name="Google Shape;139;p19"/>
          <p:cNvCxnSpPr/>
          <p:nvPr/>
        </p:nvCxnSpPr>
        <p:spPr>
          <a:xfrm>
            <a:off x="1841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19"/>
          <p:cNvCxnSpPr/>
          <p:nvPr/>
        </p:nvCxnSpPr>
        <p:spPr>
          <a:xfrm>
            <a:off x="7302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381000" y="1333500"/>
            <a:ext cx="83184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Flash-Lite via Vertex AI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 calling, cause comparison and grounded operational chat.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Firestore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execution, mission results and persistent case journals.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React, TypeScript, Three.js + FastAPI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Playable factory, human approvals and deterministic scope.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8" name="Google Shape;158;p21"/>
          <p:cNvSpPr/>
          <p:nvPr/>
        </p:nvSpPr>
        <p:spPr>
          <a:xfrm>
            <a:off x="457200" y="1097280"/>
            <a:ext cx="5120700" cy="2148900"/>
          </a:xfrm>
          <a:prstGeom prst="roundRect">
            <a:avLst>
              <a:gd fmla="val 16667" name="adj"/>
            </a:avLst>
          </a:prstGeom>
          <a:solidFill>
            <a:srgbClr val="0F2B27"/>
          </a:solidFill>
          <a:ln cap="flat" cmpd="sng" w="12700">
            <a:solidFill>
              <a:srgbClr val="1F4A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1"/>
          <p:cNvSpPr/>
          <p:nvPr/>
        </p:nvSpPr>
        <p:spPr>
          <a:xfrm>
            <a:off x="5760720" y="1097280"/>
            <a:ext cx="2926200" cy="2148900"/>
          </a:xfrm>
          <a:prstGeom prst="roundRect">
            <a:avLst>
              <a:gd fmla="val 16667" name="adj"/>
            </a:avLst>
          </a:prstGeom>
          <a:solidFill>
            <a:srgbClr val="A6E4C6"/>
          </a:solidFill>
          <a:ln cap="flat" cmpd="sng" w="12700">
            <a:solidFill>
              <a:srgbClr val="A6E4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571500" y="1168400"/>
            <a:ext cx="4889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000">
                <a:solidFill>
                  <a:srgbClr val="9FB8AD"/>
                </a:solidFill>
              </a:rPr>
              <a:t>ONE MEASURED CASE</a:t>
            </a:r>
            <a:endParaRPr b="1" sz="1000">
              <a:solidFill>
                <a:srgbClr val="9FB8AD"/>
              </a:solidFill>
            </a:endParaRPr>
          </a:p>
        </p:txBody>
      </p:sp>
      <p:graphicFrame>
        <p:nvGraphicFramePr>
          <p:cNvPr id="161" name="Google Shape;161;p21"/>
          <p:cNvGraphicFramePr/>
          <p:nvPr/>
        </p:nvGraphicFramePr>
        <p:xfrm>
          <a:off x="635000" y="1485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{16901800-F74E-40F8-9D84-CF7F7C739A23}</a:tableStyleId>
              </a:tblPr>
              <a:tblGrid>
                <a:gridCol w="1917700"/>
                <a:gridCol w="965200"/>
                <a:gridCol w="952500"/>
                <a:gridCol w="914400"/>
              </a:tblGrid>
              <a:tr h="304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rgbClr val="9FB8AD"/>
                          </a:solidFill>
                        </a:rPr>
                        <a:t>TOKENS</a:t>
                      </a:r>
                      <a:endParaRPr b="1" sz="1000">
                        <a:solidFill>
                          <a:srgbClr val="9FB8AD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rgbClr val="9FB8AD"/>
                          </a:solidFill>
                        </a:rPr>
                        <a:t>RATE / 1M</a:t>
                      </a:r>
                      <a:endParaRPr b="1" sz="1000">
                        <a:solidFill>
                          <a:srgbClr val="9FB8AD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rgbClr val="9FB8AD"/>
                          </a:solidFill>
                        </a:rPr>
                        <a:t>COST</a:t>
                      </a:r>
                      <a:endParaRPr b="1" sz="1000">
                        <a:solidFill>
                          <a:srgbClr val="9FB8AD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Input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66,308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$0.30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$0.0199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Output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3,087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$2.50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EAF5E9"/>
                          </a:solidFill>
                        </a:rPr>
                        <a:t>$0.0077</a:t>
                      </a:r>
                      <a:endParaRPr sz="1200">
                        <a:solidFill>
                          <a:srgbClr val="EAF5E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rgbClr val="A6E4C6"/>
                          </a:solidFill>
                        </a:rPr>
                        <a:t>Total (19 calls)</a:t>
                      </a:r>
                      <a:endParaRPr b="1" sz="1200">
                        <a:solidFill>
                          <a:srgbClr val="A6E4C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rgbClr val="A6E4C6"/>
                          </a:solidFill>
                        </a:rPr>
                        <a:t>69,395</a:t>
                      </a:r>
                      <a:endParaRPr b="1" sz="1200">
                        <a:solidFill>
                          <a:srgbClr val="A6E4C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rgbClr val="F4B860"/>
                          </a:solidFill>
                        </a:rPr>
                        <a:t>$0.0276</a:t>
                      </a:r>
                      <a:endParaRPr b="1" sz="1200">
                        <a:solidFill>
                          <a:srgbClr val="F4B860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5">
                      <a:solidFill>
                        <a:srgbClr val="0F2B2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27"/>
                    </a:solidFill>
                  </a:tcPr>
                </a:tc>
              </a:tr>
            </a:tbl>
          </a:graphicData>
        </a:graphic>
      </p:graphicFrame>
      <p:sp>
        <p:nvSpPr>
          <p:cNvPr id="162" name="Google Shape;162;p21"/>
          <p:cNvSpPr txBox="1"/>
          <p:nvPr/>
        </p:nvSpPr>
        <p:spPr>
          <a:xfrm>
            <a:off x="571500" y="2857500"/>
            <a:ext cx="4889400" cy="31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9FB8AD"/>
                </a:solidFill>
              </a:rPr>
              <a:t>Gemini 3.5 Flash-Lite on Vertex AI</a:t>
            </a:r>
            <a:endParaRPr sz="900">
              <a:solidFill>
                <a:srgbClr val="9FB8A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9FB8AD"/>
                </a:solidFill>
              </a:rPr>
              <a:t>Investigation, scans, reassessment and 3 chat questions</a:t>
            </a:r>
            <a:endParaRPr sz="900">
              <a:solidFill>
                <a:srgbClr val="9FB8AD"/>
              </a:solidFill>
            </a:endParaRPr>
          </a:p>
        </p:txBody>
      </p:sp>
      <p:sp>
        <p:nvSpPr>
          <p:cNvPr id="163" name="Google Shape;163;p21"/>
          <p:cNvSpPr txBox="1"/>
          <p:nvPr/>
        </p:nvSpPr>
        <p:spPr>
          <a:xfrm>
            <a:off x="5829300" y="1231900"/>
            <a:ext cx="2781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091E1B"/>
                </a:solidFill>
              </a:rPr>
              <a:t>AI COST PER CASE</a:t>
            </a:r>
            <a:endParaRPr b="1" sz="1100">
              <a:solidFill>
                <a:srgbClr val="091E1B"/>
              </a:solidFill>
            </a:endParaRPr>
          </a:p>
        </p:txBody>
      </p:sp>
      <p:sp>
        <p:nvSpPr>
          <p:cNvPr id="164" name="Google Shape;164;p21"/>
          <p:cNvSpPr txBox="1"/>
          <p:nvPr/>
        </p:nvSpPr>
        <p:spPr>
          <a:xfrm>
            <a:off x="5829300" y="1625600"/>
            <a:ext cx="27813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>
                <a:solidFill>
                  <a:srgbClr val="091E1B"/>
                </a:solidFill>
              </a:rPr>
              <a:t>≈ $0.03</a:t>
            </a:r>
            <a:endParaRPr b="1" sz="4400">
              <a:solidFill>
                <a:srgbClr val="091E1B"/>
              </a:solidFill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5842000" y="2489200"/>
            <a:ext cx="2755800" cy="4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091E1B"/>
                </a:solidFill>
              </a:rPr>
              <a:t>AI inference per complete</a:t>
            </a:r>
            <a:endParaRPr sz="1200">
              <a:solidFill>
                <a:srgbClr val="091E1B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091E1B"/>
                </a:solidFill>
              </a:rPr>
              <a:t>investigation</a:t>
            </a:r>
            <a:endParaRPr sz="1200">
              <a:solidFill>
                <a:srgbClr val="091E1B"/>
              </a:solidFill>
            </a:endParaRPr>
          </a:p>
        </p:txBody>
      </p:sp>
      <p:sp>
        <p:nvSpPr>
          <p:cNvPr id="166" name="Google Shape;166;p21"/>
          <p:cNvSpPr txBox="1"/>
          <p:nvPr/>
        </p:nvSpPr>
        <p:spPr>
          <a:xfrm>
            <a:off x="457200" y="335280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000">
                <a:solidFill>
                  <a:srgbClr val="9FB8AD"/>
                </a:solidFill>
              </a:rPr>
              <a:t>MONTHLY COST: GEMINI AND TOTAL CLOUD BUDGET</a:t>
            </a:r>
            <a:endParaRPr b="1" sz="1000">
              <a:solidFill>
                <a:srgbClr val="9FB8AD"/>
              </a:solidFill>
            </a:endParaRPr>
          </a:p>
        </p:txBody>
      </p:sp>
      <p:sp>
        <p:nvSpPr>
          <p:cNvPr id="167" name="Google Shape;167;p21"/>
          <p:cNvSpPr/>
          <p:nvPr/>
        </p:nvSpPr>
        <p:spPr>
          <a:xfrm>
            <a:off x="457200" y="3657600"/>
            <a:ext cx="1920300" cy="863700"/>
          </a:xfrm>
          <a:prstGeom prst="roundRect">
            <a:avLst>
              <a:gd fmla="val 16667" name="adj"/>
            </a:avLst>
          </a:prstGeom>
          <a:solidFill>
            <a:srgbClr val="0F2B27"/>
          </a:solidFill>
          <a:ln cap="flat" cmpd="sng" w="12700">
            <a:solidFill>
              <a:srgbClr val="1F4A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1"/>
          <p:cNvSpPr txBox="1"/>
          <p:nvPr/>
        </p:nvSpPr>
        <p:spPr>
          <a:xfrm>
            <a:off x="495300" y="3695700"/>
            <a:ext cx="1844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F4B860"/>
                </a:solidFill>
              </a:rPr>
              <a:t>$2.76</a:t>
            </a:r>
            <a:endParaRPr b="1" sz="2200">
              <a:solidFill>
                <a:srgbClr val="F4B860"/>
              </a:solidFill>
            </a:endParaRPr>
          </a:p>
        </p:txBody>
      </p:sp>
      <p:sp>
        <p:nvSpPr>
          <p:cNvPr id="169" name="Google Shape;169;p21"/>
          <p:cNvSpPr txBox="1"/>
          <p:nvPr/>
        </p:nvSpPr>
        <p:spPr>
          <a:xfrm>
            <a:off x="495300" y="4102100"/>
            <a:ext cx="184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100 cases</a:t>
            </a:r>
            <a:endParaRPr sz="1100">
              <a:solidFill>
                <a:srgbClr val="EAF5E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Gemini only</a:t>
            </a:r>
            <a:endParaRPr sz="1100">
              <a:solidFill>
                <a:srgbClr val="EAF5E9"/>
              </a:solidFill>
            </a:endParaRPr>
          </a:p>
        </p:txBody>
      </p:sp>
      <p:sp>
        <p:nvSpPr>
          <p:cNvPr id="170" name="Google Shape;170;p21"/>
          <p:cNvSpPr/>
          <p:nvPr/>
        </p:nvSpPr>
        <p:spPr>
          <a:xfrm>
            <a:off x="2560320" y="3657600"/>
            <a:ext cx="1920300" cy="863700"/>
          </a:xfrm>
          <a:prstGeom prst="roundRect">
            <a:avLst>
              <a:gd fmla="val 16667" name="adj"/>
            </a:avLst>
          </a:prstGeom>
          <a:solidFill>
            <a:srgbClr val="0F2B27"/>
          </a:solidFill>
          <a:ln cap="flat" cmpd="sng" w="12700">
            <a:solidFill>
              <a:srgbClr val="1F4A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1"/>
          <p:cNvSpPr txBox="1"/>
          <p:nvPr/>
        </p:nvSpPr>
        <p:spPr>
          <a:xfrm>
            <a:off x="2598420" y="3695700"/>
            <a:ext cx="1844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F4B860"/>
                </a:solidFill>
              </a:rPr>
              <a:t>$27.61</a:t>
            </a:r>
            <a:endParaRPr b="1" sz="2200">
              <a:solidFill>
                <a:srgbClr val="F4B860"/>
              </a:solidFill>
            </a:endParaRPr>
          </a:p>
        </p:txBody>
      </p:sp>
      <p:sp>
        <p:nvSpPr>
          <p:cNvPr id="172" name="Google Shape;172;p21"/>
          <p:cNvSpPr txBox="1"/>
          <p:nvPr/>
        </p:nvSpPr>
        <p:spPr>
          <a:xfrm>
            <a:off x="2598420" y="4102100"/>
            <a:ext cx="184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1,000 cases</a:t>
            </a:r>
            <a:endParaRPr sz="1100">
              <a:solidFill>
                <a:srgbClr val="EAF5E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Gemini only</a:t>
            </a:r>
            <a:endParaRPr sz="1100">
              <a:solidFill>
                <a:srgbClr val="EAF5E9"/>
              </a:solidFill>
            </a:endParaRPr>
          </a:p>
        </p:txBody>
      </p:sp>
      <p:sp>
        <p:nvSpPr>
          <p:cNvPr id="173" name="Google Shape;173;p21"/>
          <p:cNvSpPr/>
          <p:nvPr/>
        </p:nvSpPr>
        <p:spPr>
          <a:xfrm>
            <a:off x="4663440" y="3657600"/>
            <a:ext cx="1920300" cy="863700"/>
          </a:xfrm>
          <a:prstGeom prst="roundRect">
            <a:avLst>
              <a:gd fmla="val 16667" name="adj"/>
            </a:avLst>
          </a:prstGeom>
          <a:solidFill>
            <a:srgbClr val="0F2B27"/>
          </a:solidFill>
          <a:ln cap="flat" cmpd="sng" w="12700">
            <a:solidFill>
              <a:srgbClr val="1F4A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1"/>
          <p:cNvSpPr txBox="1"/>
          <p:nvPr/>
        </p:nvSpPr>
        <p:spPr>
          <a:xfrm>
            <a:off x="4701540" y="3695700"/>
            <a:ext cx="1844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F4B860"/>
                </a:solidFill>
              </a:rPr>
              <a:t>$6</a:t>
            </a:r>
            <a:endParaRPr b="1" sz="2200">
              <a:solidFill>
                <a:srgbClr val="F4B860"/>
              </a:solidFill>
            </a:endParaRPr>
          </a:p>
        </p:txBody>
      </p:sp>
      <p:sp>
        <p:nvSpPr>
          <p:cNvPr id="175" name="Google Shape;175;p21"/>
          <p:cNvSpPr txBox="1"/>
          <p:nvPr/>
        </p:nvSpPr>
        <p:spPr>
          <a:xfrm>
            <a:off x="4701540" y="4102100"/>
            <a:ext cx="184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100 cases</a:t>
            </a:r>
            <a:endParaRPr sz="1100">
              <a:solidFill>
                <a:srgbClr val="EAF5E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Total cloud budget</a:t>
            </a:r>
            <a:endParaRPr sz="1100">
              <a:solidFill>
                <a:srgbClr val="EAF5E9"/>
              </a:solidFill>
            </a:endParaRPr>
          </a:p>
        </p:txBody>
      </p:sp>
      <p:sp>
        <p:nvSpPr>
          <p:cNvPr id="176" name="Google Shape;176;p21"/>
          <p:cNvSpPr/>
          <p:nvPr/>
        </p:nvSpPr>
        <p:spPr>
          <a:xfrm>
            <a:off x="6766560" y="3657600"/>
            <a:ext cx="1920300" cy="863700"/>
          </a:xfrm>
          <a:prstGeom prst="roundRect">
            <a:avLst>
              <a:gd fmla="val 16667" name="adj"/>
            </a:avLst>
          </a:prstGeom>
          <a:solidFill>
            <a:srgbClr val="0F2B27"/>
          </a:solidFill>
          <a:ln cap="flat" cmpd="sng" w="12700">
            <a:solidFill>
              <a:srgbClr val="1F4A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1"/>
          <p:cNvSpPr txBox="1"/>
          <p:nvPr/>
        </p:nvSpPr>
        <p:spPr>
          <a:xfrm>
            <a:off x="6804660" y="3695700"/>
            <a:ext cx="1844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F4B860"/>
                </a:solidFill>
              </a:rPr>
              <a:t>$40</a:t>
            </a:r>
            <a:endParaRPr b="1" sz="2200">
              <a:solidFill>
                <a:srgbClr val="F4B860"/>
              </a:solidFill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6804660" y="4102100"/>
            <a:ext cx="184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1,000 cases</a:t>
            </a:r>
            <a:endParaRPr sz="1100">
              <a:solidFill>
                <a:srgbClr val="EAF5E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EAF5E9"/>
                </a:solidFill>
              </a:rPr>
              <a:t>Total cloud budget</a:t>
            </a:r>
            <a:endParaRPr sz="1100">
              <a:solidFill>
                <a:srgbClr val="EAF5E9"/>
              </a:solidFill>
            </a:endParaRPr>
          </a:p>
        </p:txBody>
      </p:sp>
      <p:sp>
        <p:nvSpPr>
          <p:cNvPr id="179" name="Google Shape;179;p21"/>
          <p:cNvSpPr txBox="1"/>
          <p:nvPr/>
        </p:nvSpPr>
        <p:spPr>
          <a:xfrm>
            <a:off x="457200" y="4610100"/>
            <a:ext cx="8229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9FB8AD"/>
                </a:solidFill>
              </a:rPr>
              <a:t>Measured synthetic case, 18 Oct 2026. USD before credits and taxes. Total cloud budgets include headroom.</a:t>
            </a:r>
            <a:endParaRPr sz="900">
              <a:solidFill>
                <a:srgbClr val="9FB8A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9FB8AD"/>
                </a:solidFill>
              </a:rPr>
              <a:t>Infrastructure is estimated. 1,000 cases/month requires a higher daily model-call limit.</a:t>
            </a:r>
            <a:endParaRPr sz="900">
              <a:solidFill>
                <a:srgbClr val="9FB8AD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355600" y="44831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Cause comparisons, inspection missions and operational chat with real Gemini.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89" name="Google Shape;189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1669" y="1781558"/>
            <a:ext cx="2233361" cy="2139183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2"/>
          <p:cNvSpPr txBox="1"/>
          <p:nvPr/>
        </p:nvSpPr>
        <p:spPr>
          <a:xfrm>
            <a:off x="3937000" y="1524000"/>
            <a:ext cx="4635600" cy="27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proposes.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Operators inspect.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reassesses.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Humans decide.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99" name="Google Shape;199;p23"/>
          <p:cNvSpPr txBox="1"/>
          <p:nvPr/>
        </p:nvSpPr>
        <p:spPr>
          <a:xfrm>
            <a:off x="381000" y="1371600"/>
            <a:ext cx="4445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66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1,500</a:t>
            </a:r>
            <a:endParaRPr b="1" sz="66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200" name="Google Shape;200;p23"/>
          <p:cNvSpPr txBox="1"/>
          <p:nvPr/>
        </p:nvSpPr>
        <p:spPr>
          <a:xfrm>
            <a:off x="381000" y="2374900"/>
            <a:ext cx="43179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units proposed for inspection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Zero unresolved after review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201" name="Google Shape;201;p23"/>
          <p:cNvSpPr txBox="1"/>
          <p:nvPr/>
        </p:nvSpPr>
        <p:spPr>
          <a:xfrm>
            <a:off x="4953000" y="13970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ADAPTIVE QUALITY INVESTIGATION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Cause comparison and missions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22 backend tests passed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approval gates verified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202" name="Google Shape;202;p23"/>
          <p:cNvSpPr txBox="1"/>
          <p:nvPr/>
        </p:nvSpPr>
        <p:spPr>
          <a:xfrm>
            <a:off x="381000" y="4025900"/>
            <a:ext cx="82551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case and operator-entered demo results. No production accuracy claim.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recommendations cannot approve scope, release stock or operate equipment.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11" name="Google Shape;211;p24"/>
          <p:cNvSpPr txBox="1"/>
          <p:nvPr/>
        </p:nvSpPr>
        <p:spPr>
          <a:xfrm>
            <a:off x="381000" y="1397000"/>
            <a:ext cx="82551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shift: a real-team pilot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212" name="Google Shape;212;p24"/>
          <p:cNvSpPr txBox="1"/>
          <p:nvPr/>
        </p:nvSpPr>
        <p:spPr>
          <a:xfrm>
            <a:off x="381000" y="2032000"/>
            <a:ext cx="82551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 a quality team reach a defensible decision with less searching and fewer missed connections?</a:t>
            </a:r>
            <a:endParaRPr sz="2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213" name="Google Shape;213;p24"/>
          <p:cNvSpPr txBox="1"/>
          <p:nvPr/>
        </p:nvSpPr>
        <p:spPr>
          <a:xfrm>
            <a:off x="381000" y="3187700"/>
            <a:ext cx="82551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evidence coverage, review time and decision errors.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 approved real procedures, controlled uploads and ERP integration.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5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Try BatchLens and inspect the source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GitHub: </a:t>
            </a:r>
            <a:r>
              <a:rPr lang="en-GB" u="sng">
                <a:solidFill>
                  <a:schemeClr val="hlink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5"/>
              </a:rPr>
              <a:t>https://github.com/mk-tdev/BatchLens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video: </a:t>
            </a:r>
            <a:r>
              <a:rPr lang="en-GB" u="sng">
                <a:solidFill>
                  <a:schemeClr val="hlink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https://youtu.be/aosveR1UzOM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Live: </a:t>
            </a:r>
            <a:r>
              <a:rPr lang="en-GB" u="sng">
                <a:solidFill>
                  <a:schemeClr val="hlink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7"/>
              </a:rPr>
              <a:t>https://batchlens-hk3hxwi5na-as.a.run.app/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22" name="Google Shape;222;p25"/>
          <p:cNvSpPr txBox="1"/>
          <p:nvPr/>
        </p:nvSpPr>
        <p:spPr>
          <a:xfrm>
            <a:off x="381000" y="2794000"/>
            <a:ext cx="8255100" cy="17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the factory.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Complete a mission.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Challenge Pip.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